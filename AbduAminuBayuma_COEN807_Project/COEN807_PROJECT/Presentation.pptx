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2" r:id="rId1"/>
  </p:sldMasterIdLst>
  <p:sldIdLst>
    <p:sldId id="256" r:id="rId2"/>
    <p:sldId id="272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47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376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096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447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301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45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225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128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474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106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75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415223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442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688252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9075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899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089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04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75" r:id="rId13"/>
    <p:sldLayoutId id="2147483776" r:id="rId14"/>
    <p:sldLayoutId id="2147483777" r:id="rId15"/>
    <p:sldLayoutId id="214748377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Machine Learning-Based Stroke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t>COEN807 Term Project</a:t>
            </a:r>
          </a:p>
          <a:p>
            <a:r>
              <a:t>Comparative Analysis of ML Models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EB8AE1F7-C038-ED68-1BE9-46458B5417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20" y="6519632"/>
            <a:ext cx="1192830" cy="365125"/>
          </a:xfrm>
        </p:spPr>
        <p:txBody>
          <a:bodyPr/>
          <a:lstStyle/>
          <a:p>
            <a:fld id="{CF2CF3DD-E7BE-43E4-B95C-5A29A73FF9CD}" type="datetime8">
              <a:rPr lang="en-NG" smtClean="0">
                <a:solidFill>
                  <a:srgbClr val="FF0000"/>
                </a:solidFill>
              </a:rPr>
              <a:t>06/16/2026 11:50</a:t>
            </a:fld>
            <a:endParaRPr lang="en-NG" dirty="0">
              <a:solidFill>
                <a:srgbClr val="FF0000"/>
              </a:solidFill>
            </a:endParaRP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14916861-00D2-EB67-9348-C0F43C89B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7988" y="6550026"/>
            <a:ext cx="2499360" cy="365125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Department of Computer Engineering</a:t>
            </a:r>
            <a:endParaRPr lang="en-NG" dirty="0">
              <a:solidFill>
                <a:srgbClr val="FF0000"/>
              </a:solidFill>
            </a:endParaRPr>
          </a:p>
        </p:txBody>
      </p:sp>
      <p:pic>
        <p:nvPicPr>
          <p:cNvPr id="12" name="Picture 11" descr="Department of Computer Engineering, ABU Zaria">
            <a:extLst>
              <a:ext uri="{FF2B5EF4-FFF2-40B4-BE49-F238E27FC236}">
                <a16:creationId xmlns:a16="http://schemas.microsoft.com/office/drawing/2014/main" id="{C4ABC988-D24F-2EE0-3394-ED9D20D352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7990" y="1818988"/>
            <a:ext cx="1248850" cy="840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FCE26F0-D6D0-803E-9772-A57A5206EB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431" y="1405143"/>
            <a:ext cx="1031252" cy="1023732"/>
          </a:xfrm>
          <a:prstGeom prst="rect">
            <a:avLst/>
          </a:prstGeom>
        </p:spPr>
      </p:pic>
      <p:sp>
        <p:nvSpPr>
          <p:cNvPr id="11" name="Rectangle 3">
            <a:extLst>
              <a:ext uri="{FF2B5EF4-FFF2-40B4-BE49-F238E27FC236}">
                <a16:creationId xmlns:a16="http://schemas.microsoft.com/office/drawing/2014/main" id="{7AC566FF-E13F-93B9-710F-3B4FF00D3E9B}"/>
              </a:ext>
            </a:extLst>
          </p:cNvPr>
          <p:cNvSpPr txBox="1">
            <a:spLocks noChangeArrowheads="1"/>
          </p:cNvSpPr>
          <p:nvPr/>
        </p:nvSpPr>
        <p:spPr>
          <a:xfrm>
            <a:off x="394028" y="1354217"/>
            <a:ext cx="8707108" cy="3835240"/>
          </a:xfrm>
          <a:prstGeom prst="rect">
            <a:avLst/>
          </a:prstGeom>
          <a:ln w="57150" cap="flat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lIns="90170" tIns="46990" rIns="90170" bIns="4699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20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20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20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20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20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105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Times New Roman" panose="02020603050405020304" pitchFamily="18" charset="0"/>
              </a:rPr>
              <a:t>COURSE: COEN 807 (MACHINE LEARNING)</a:t>
            </a:r>
          </a:p>
          <a:p>
            <a:pPr marL="0" indent="0" algn="ctr">
              <a:buNone/>
            </a:pPr>
            <a:endParaRPr lang="en-US" sz="105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latin typeface="Arial Black" panose="020B0A04020102020204" pitchFamily="34" charset="0"/>
              </a:rPr>
              <a:t>PROJECT-BASED EXAMINATION </a:t>
            </a:r>
          </a:p>
          <a:p>
            <a:pPr marL="0" indent="0" algn="ctr">
              <a:lnSpc>
                <a:spcPct val="100000"/>
              </a:lnSpc>
              <a:buNone/>
            </a:pPr>
            <a:endParaRPr lang="en-US" sz="2000" b="1" dirty="0">
              <a:latin typeface="Arial Black" panose="020B0A04020102020204" pitchFamily="34" charset="0"/>
            </a:endParaRPr>
          </a:p>
          <a:p>
            <a:pPr marL="0" indent="0" algn="ctr">
              <a:buNone/>
            </a:pPr>
            <a:r>
              <a:rPr lang="en-US" sz="2000" b="1" dirty="0">
                <a:latin typeface="Arial Black" panose="020B0A04020102020204" pitchFamily="34" charset="0"/>
              </a:rPr>
              <a:t>ABDU AMINU BAYUMA</a:t>
            </a:r>
            <a:endParaRPr lang="en-US" sz="2000" dirty="0">
              <a:latin typeface="Arial Black" panose="020B0A04020102020204" pitchFamily="34" charset="0"/>
            </a:endParaRPr>
          </a:p>
          <a:p>
            <a:pPr marL="0" indent="0" algn="ctr">
              <a:buNone/>
            </a:pPr>
            <a:r>
              <a:rPr lang="en-US" sz="2000" b="1" dirty="0">
                <a:latin typeface="Arial Black" panose="020B0A04020102020204" pitchFamily="34" charset="0"/>
              </a:rPr>
              <a:t>P25EGCP8004 </a:t>
            </a:r>
          </a:p>
          <a:p>
            <a:pPr marL="0" indent="0" algn="ctr">
              <a:buNone/>
            </a:pPr>
            <a:endParaRPr lang="en-US" sz="2000" b="1" dirty="0">
              <a:latin typeface="Arial Black" panose="020B0A04020102020204" pitchFamily="34" charset="0"/>
            </a:endParaRPr>
          </a:p>
          <a:p>
            <a:pPr marL="0" indent="0" algn="ctr">
              <a:buNone/>
            </a:pPr>
            <a:endParaRPr lang="en-US" sz="1050" dirty="0">
              <a:latin typeface="Arial Black" panose="020B0A04020102020204" pitchFamily="34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050" b="1" dirty="0">
              <a:latin typeface="Arial Black" panose="020B0A04020102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05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950880A-2EFC-1855-B957-9CB54B4423C7}"/>
              </a:ext>
            </a:extLst>
          </p:cNvPr>
          <p:cNvSpPr txBox="1"/>
          <p:nvPr/>
        </p:nvSpPr>
        <p:spPr>
          <a:xfrm>
            <a:off x="1046558" y="299207"/>
            <a:ext cx="766054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Times New Roman" panose="02020603050405020304" pitchFamily="18" charset="0"/>
              </a:rPr>
              <a:t>DEPARTMENT OF COMPUTER ENGINEERING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Times New Roman" panose="02020603050405020304" pitchFamily="18" charset="0"/>
              </a:rPr>
              <a:t>AHMADU BELLO UNIVERSITY, ZARIA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5229277-91DD-BF09-F728-F8488BE98D2A}"/>
              </a:ext>
            </a:extLst>
          </p:cNvPr>
          <p:cNvSpPr txBox="1"/>
          <p:nvPr/>
        </p:nvSpPr>
        <p:spPr>
          <a:xfrm>
            <a:off x="136672" y="4429126"/>
            <a:ext cx="9480320" cy="1613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0000"/>
                </a:solidFill>
                <a:latin typeface="Arial Black" panose="020B0A04020102020204" pitchFamily="34" charset="0"/>
              </a:rPr>
              <a:t>PROJECT TITLE:</a:t>
            </a:r>
          </a:p>
          <a:p>
            <a:pPr marL="0" indent="0" algn="ctr">
              <a:buNone/>
            </a:pPr>
            <a:endParaRPr lang="en-US" sz="1400" b="1" dirty="0">
              <a:latin typeface="Arial Black" panose="020B0A04020102020204" pitchFamily="34" charset="0"/>
            </a:endParaRPr>
          </a:p>
          <a:p>
            <a:pPr marL="0" indent="0" algn="ctr">
              <a:lnSpc>
                <a:spcPct val="170000"/>
              </a:lnSpc>
              <a:buNone/>
            </a:pPr>
            <a:r>
              <a:rPr lang="en-US" b="1" dirty="0"/>
              <a:t>MACHINE LEARNING-BASED STROKE PREDICTION: A COMPARATIVE </a:t>
            </a:r>
          </a:p>
          <a:p>
            <a:pPr marL="0" indent="0" algn="ctr">
              <a:lnSpc>
                <a:spcPct val="170000"/>
              </a:lnSpc>
              <a:buNone/>
            </a:pPr>
            <a:r>
              <a:rPr lang="en-US" b="1" dirty="0"/>
              <a:t>ANALYSIS OF CLASSIFICATION ALGORITHMS USING HEALTHCARE DATA</a:t>
            </a:r>
          </a:p>
        </p:txBody>
      </p:sp>
    </p:spTree>
    <p:extLst>
      <p:ext uri="{BB962C8B-B14F-4D97-AF65-F5344CB8AC3E}">
        <p14:creationId xmlns:p14="http://schemas.microsoft.com/office/powerpoint/2010/main" val="3230202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7973" y="624110"/>
            <a:ext cx="6589199" cy="1280890"/>
          </a:xfrm>
        </p:spPr>
        <p:txBody>
          <a:bodyPr>
            <a:normAutofit/>
          </a:bodyPr>
          <a:lstStyle/>
          <a:p>
            <a:r>
              <a:rPr sz="4800" b="1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5187" y="2124075"/>
            <a:ext cx="7658788" cy="3777622"/>
          </a:xfrm>
        </p:spPr>
        <p:txBody>
          <a:bodyPr>
            <a:normAutofit/>
          </a:bodyPr>
          <a:lstStyle/>
          <a:p>
            <a:r>
              <a:rPr sz="3200" dirty="0"/>
              <a:t>Stroke is a leading cause of death.</a:t>
            </a:r>
          </a:p>
          <a:p>
            <a:r>
              <a:rPr sz="3200" dirty="0"/>
              <a:t>ML helps early prediction using healthcare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6564" y="624110"/>
            <a:ext cx="6589199" cy="1280890"/>
          </a:xfrm>
        </p:spPr>
        <p:txBody>
          <a:bodyPr>
            <a:normAutofit/>
          </a:bodyPr>
          <a:lstStyle/>
          <a:p>
            <a:r>
              <a:rPr sz="4400" b="1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984" y="1947860"/>
            <a:ext cx="7444473" cy="3777622"/>
          </a:xfrm>
        </p:spPr>
        <p:txBody>
          <a:bodyPr>
            <a:normAutofit/>
          </a:bodyPr>
          <a:lstStyle/>
          <a:p>
            <a:r>
              <a:rPr sz="3200" dirty="0"/>
              <a:t>Manual diagnosis is slow.</a:t>
            </a:r>
          </a:p>
          <a:p>
            <a:r>
              <a:rPr sz="3200" dirty="0"/>
              <a:t>Need automated stroke prediction system.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7400" y="648145"/>
            <a:ext cx="6589199" cy="1280890"/>
          </a:xfrm>
        </p:spPr>
        <p:txBody>
          <a:bodyPr>
            <a:normAutofit/>
          </a:bodyPr>
          <a:lstStyle/>
          <a:p>
            <a:r>
              <a:rPr sz="4400" b="1" dirty="0"/>
              <a:t>Aim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0125" y="2133600"/>
            <a:ext cx="7534275" cy="3777622"/>
          </a:xfrm>
        </p:spPr>
        <p:txBody>
          <a:bodyPr>
            <a:normAutofit/>
          </a:bodyPr>
          <a:lstStyle/>
          <a:p>
            <a:r>
              <a:rPr sz="2800" dirty="0"/>
              <a:t>Build ML models to predict stroke occurrence and compare performance.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6576" y="605282"/>
            <a:ext cx="6589199" cy="1280890"/>
          </a:xfrm>
        </p:spPr>
        <p:txBody>
          <a:bodyPr>
            <a:normAutofit/>
          </a:bodyPr>
          <a:lstStyle/>
          <a:p>
            <a:r>
              <a:rPr sz="4400" b="1" dirty="0"/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4413" y="2133600"/>
            <a:ext cx="7519987" cy="3777622"/>
          </a:xfrm>
        </p:spPr>
        <p:txBody>
          <a:bodyPr>
            <a:normAutofit/>
          </a:bodyPr>
          <a:lstStyle/>
          <a:p>
            <a:r>
              <a:rPr sz="3200"/>
              <a:t>5110 records, 12 features</a:t>
            </a:r>
          </a:p>
          <a:p>
            <a:r>
              <a:rPr sz="3200"/>
              <a:t>Target: stroke (0/1)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7400" y="624110"/>
            <a:ext cx="6589199" cy="1280890"/>
          </a:xfrm>
        </p:spPr>
        <p:txBody>
          <a:bodyPr>
            <a:normAutofit/>
          </a:bodyPr>
          <a:lstStyle/>
          <a:p>
            <a:r>
              <a:rPr sz="4400" b="1" dirty="0"/>
              <a:t>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5998" y="1909762"/>
            <a:ext cx="7869386" cy="3777622"/>
          </a:xfrm>
        </p:spPr>
        <p:txBody>
          <a:bodyPr>
            <a:normAutofit/>
          </a:bodyPr>
          <a:lstStyle/>
          <a:p>
            <a:r>
              <a:rPr sz="3200" dirty="0"/>
              <a:t>Removed ID, encoded categorical variables, handled missing BMI, normalized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2276" y="624110"/>
            <a:ext cx="6589199" cy="1280890"/>
          </a:xfrm>
        </p:spPr>
        <p:txBody>
          <a:bodyPr>
            <a:normAutofit/>
          </a:bodyPr>
          <a:lstStyle/>
          <a:p>
            <a:r>
              <a:rPr sz="4000" b="1" dirty="0"/>
              <a:t>Class Imbalance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5171" y="1747834"/>
            <a:ext cx="7473054" cy="3777622"/>
          </a:xfrm>
        </p:spPr>
        <p:txBody>
          <a:bodyPr>
            <a:normAutofit/>
          </a:bodyPr>
          <a:lstStyle/>
          <a:p>
            <a:r>
              <a:rPr sz="2800" dirty="0"/>
              <a:t>Stroke: 249</a:t>
            </a:r>
          </a:p>
          <a:p>
            <a:r>
              <a:rPr sz="2800" dirty="0"/>
              <a:t>No Stroke: 4861</a:t>
            </a:r>
          </a:p>
          <a:p>
            <a:r>
              <a:rPr sz="2800" dirty="0"/>
              <a:t>Imbalance affects accuracy reliability.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0851" y="691007"/>
            <a:ext cx="6589199" cy="1280890"/>
          </a:xfrm>
        </p:spPr>
        <p:txBody>
          <a:bodyPr>
            <a:normAutofit/>
          </a:bodyPr>
          <a:lstStyle/>
          <a:p>
            <a:r>
              <a:rPr sz="4400" b="1" dirty="0"/>
              <a:t>Models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9428" y="1971897"/>
            <a:ext cx="7830235" cy="3777622"/>
          </a:xfrm>
        </p:spPr>
        <p:txBody>
          <a:bodyPr>
            <a:normAutofit/>
          </a:bodyPr>
          <a:lstStyle/>
          <a:p>
            <a:r>
              <a:rPr sz="3200" dirty="0"/>
              <a:t>Decision Tree, Random Forest, SVM, KNN, Logistic Regression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7400" y="676720"/>
            <a:ext cx="6589199" cy="1280890"/>
          </a:xfrm>
        </p:spPr>
        <p:txBody>
          <a:bodyPr>
            <a:normAutofit/>
          </a:bodyPr>
          <a:lstStyle/>
          <a:p>
            <a:r>
              <a:rPr sz="4000" b="1" dirty="0"/>
              <a:t>Experimental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9452" y="1948085"/>
            <a:ext cx="7487336" cy="3777622"/>
          </a:xfrm>
        </p:spPr>
        <p:txBody>
          <a:bodyPr>
            <a:normAutofit/>
          </a:bodyPr>
          <a:lstStyle/>
          <a:p>
            <a:r>
              <a:rPr sz="3200"/>
              <a:t>80/20 split, MATLAB Online, evaluation metrics used.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8001" y="624110"/>
            <a:ext cx="6589199" cy="1280890"/>
          </a:xfrm>
        </p:spPr>
        <p:txBody>
          <a:bodyPr>
            <a:normAutofit/>
          </a:bodyPr>
          <a:lstStyle/>
          <a:p>
            <a:r>
              <a:rPr sz="4800" b="1" dirty="0"/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4014" y="1905000"/>
            <a:ext cx="6591985" cy="3777622"/>
          </a:xfrm>
        </p:spPr>
        <p:txBody>
          <a:bodyPr>
            <a:normAutofit/>
          </a:bodyPr>
          <a:lstStyle/>
          <a:p>
            <a:r>
              <a:rPr sz="3200" dirty="0"/>
              <a:t>Logistic Regression: 95.21%</a:t>
            </a:r>
          </a:p>
          <a:p>
            <a:r>
              <a:rPr sz="3200" dirty="0"/>
              <a:t>Best performing model.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0851" y="662432"/>
            <a:ext cx="6589199" cy="1280890"/>
          </a:xfrm>
        </p:spPr>
        <p:txBody>
          <a:bodyPr>
            <a:normAutofit/>
          </a:bodyPr>
          <a:lstStyle/>
          <a:p>
            <a:r>
              <a:rPr sz="4800" b="1" dirty="0"/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8003" y="1943322"/>
            <a:ext cx="7558772" cy="3777622"/>
          </a:xfrm>
        </p:spPr>
        <p:txBody>
          <a:bodyPr>
            <a:normAutofit/>
          </a:bodyPr>
          <a:lstStyle/>
          <a:p>
            <a:r>
              <a:rPr sz="3200"/>
              <a:t>Accuracy, Precision, Recall, F1-score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7400" y="624110"/>
            <a:ext cx="6589199" cy="1280890"/>
          </a:xfrm>
        </p:spPr>
        <p:txBody>
          <a:bodyPr>
            <a:normAutofit/>
          </a:bodyPr>
          <a:lstStyle/>
          <a:p>
            <a:r>
              <a:rPr sz="4000" b="1" dirty="0"/>
              <a:t>Feature Importance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9427" y="1905000"/>
            <a:ext cx="7530198" cy="3777622"/>
          </a:xfrm>
        </p:spPr>
        <p:txBody>
          <a:bodyPr>
            <a:normAutofit/>
          </a:bodyPr>
          <a:lstStyle/>
          <a:p>
            <a:r>
              <a:rPr sz="3200" dirty="0"/>
              <a:t>Age, glucose level, hypertension are key factors.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7400" y="624110"/>
            <a:ext cx="6589199" cy="1280890"/>
          </a:xfrm>
        </p:spPr>
        <p:txBody>
          <a:bodyPr>
            <a:normAutofit/>
          </a:bodyPr>
          <a:lstStyle/>
          <a:p>
            <a:r>
              <a:rPr sz="4400" b="1" dirty="0"/>
              <a:t>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2277" y="1905000"/>
            <a:ext cx="6591985" cy="3777622"/>
          </a:xfrm>
        </p:spPr>
        <p:txBody>
          <a:bodyPr>
            <a:normAutofit/>
          </a:bodyPr>
          <a:lstStyle/>
          <a:p>
            <a:r>
              <a:rPr sz="3200"/>
              <a:t>Accuracy is misleading due to imbalance.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7988" y="648145"/>
            <a:ext cx="6589199" cy="1280890"/>
          </a:xfrm>
        </p:spPr>
        <p:txBody>
          <a:bodyPr>
            <a:normAutofit/>
          </a:bodyPr>
          <a:lstStyle/>
          <a:p>
            <a:r>
              <a:rPr sz="4400"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5140" y="1929035"/>
            <a:ext cx="7587348" cy="3777622"/>
          </a:xfrm>
        </p:spPr>
        <p:txBody>
          <a:bodyPr>
            <a:normAutofit/>
          </a:bodyPr>
          <a:lstStyle/>
          <a:p>
            <a:r>
              <a:rPr sz="3200"/>
              <a:t>ML models effective for stroke prediction.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7400" y="624110"/>
            <a:ext cx="6589199" cy="1280890"/>
          </a:xfrm>
        </p:spPr>
        <p:txBody>
          <a:bodyPr>
            <a:normAutofit/>
          </a:bodyPr>
          <a:lstStyle/>
          <a:p>
            <a:r>
              <a:rPr sz="4800" b="1" dirty="0"/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5152" y="2109787"/>
            <a:ext cx="6591985" cy="3777622"/>
          </a:xfrm>
        </p:spPr>
        <p:txBody>
          <a:bodyPr>
            <a:normAutofit/>
          </a:bodyPr>
          <a:lstStyle/>
          <a:p>
            <a:r>
              <a:rPr sz="3200"/>
              <a:t>Imbalanced dataset, limited features.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2276" y="662432"/>
            <a:ext cx="6589199" cy="1280890"/>
          </a:xfrm>
        </p:spPr>
        <p:txBody>
          <a:bodyPr>
            <a:normAutofit/>
          </a:bodyPr>
          <a:lstStyle/>
          <a:p>
            <a:r>
              <a:rPr sz="4400" b="1" dirty="0"/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015" y="1933797"/>
            <a:ext cx="6591985" cy="3777622"/>
          </a:xfrm>
        </p:spPr>
        <p:txBody>
          <a:bodyPr>
            <a:normAutofit/>
          </a:bodyPr>
          <a:lstStyle/>
          <a:p>
            <a:r>
              <a:rPr sz="3200" dirty="0"/>
              <a:t>Use SMOTE, deep learning, deploy system.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10</TotalTime>
  <Words>233</Words>
  <Application>Microsoft Office PowerPoint</Application>
  <PresentationFormat>On-screen Show (4:3)</PresentationFormat>
  <Paragraphs>56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Arial Black</vt:lpstr>
      <vt:lpstr>Century Gothic</vt:lpstr>
      <vt:lpstr>Wingdings 3</vt:lpstr>
      <vt:lpstr>Wisp</vt:lpstr>
      <vt:lpstr>Machine Learning-Based Stroke Prediction</vt:lpstr>
      <vt:lpstr>PowerPoint Presentation</vt:lpstr>
      <vt:lpstr>Introduction</vt:lpstr>
      <vt:lpstr>Problem Statement</vt:lpstr>
      <vt:lpstr>Aim &amp; Objectives</vt:lpstr>
      <vt:lpstr>Dataset</vt:lpstr>
      <vt:lpstr>Preprocessing</vt:lpstr>
      <vt:lpstr>Class Imbalance</vt:lpstr>
      <vt:lpstr>Models Used</vt:lpstr>
      <vt:lpstr>Experimental Setup</vt:lpstr>
      <vt:lpstr>Results</vt:lpstr>
      <vt:lpstr>Evaluation Metrics</vt:lpstr>
      <vt:lpstr>Feature Importance</vt:lpstr>
      <vt:lpstr>Discussion</vt:lpstr>
      <vt:lpstr>Conclusion</vt:lpstr>
      <vt:lpstr>Limitations</vt:lpstr>
      <vt:lpstr>Future 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Muhammad Rabiata Kani</cp:lastModifiedBy>
  <cp:revision>13</cp:revision>
  <dcterms:created xsi:type="dcterms:W3CDTF">2013-01-27T09:14:16Z</dcterms:created>
  <dcterms:modified xsi:type="dcterms:W3CDTF">2026-06-16T10:59:01Z</dcterms:modified>
  <cp:category/>
</cp:coreProperties>
</file>